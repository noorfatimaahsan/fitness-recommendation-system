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68" r:id="rId2"/>
    <p:sldId id="258" r:id="rId3"/>
    <p:sldId id="259" r:id="rId4"/>
    <p:sldId id="260" r:id="rId5"/>
    <p:sldId id="263" r:id="rId6"/>
    <p:sldId id="262" r:id="rId7"/>
    <p:sldId id="270" r:id="rId8"/>
    <p:sldId id="271"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D6E56"/>
    <a:srgbClr val="04285C"/>
    <a:srgbClr val="7B69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62" autoAdjust="0"/>
    <p:restoredTop sz="94660"/>
  </p:normalViewPr>
  <p:slideViewPr>
    <p:cSldViewPr snapToGrid="0">
      <p:cViewPr varScale="1">
        <p:scale>
          <a:sx n="74" d="100"/>
          <a:sy n="74" d="100"/>
        </p:scale>
        <p:origin x="5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498CA72-766B-4968-AC44-BCD2EBAFCC6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EFCBFE0-EE8B-4DF1-9140-5630ABA024E3}" type="slidenum">
              <a:rPr lang="en-US" smtClean="0"/>
              <a:t>‹#›</a:t>
            </a:fld>
            <a:endParaRPr lang="en-US"/>
          </a:p>
        </p:txBody>
      </p:sp>
    </p:spTree>
    <p:extLst>
      <p:ext uri="{BB962C8B-B14F-4D97-AF65-F5344CB8AC3E}">
        <p14:creationId xmlns:p14="http://schemas.microsoft.com/office/powerpoint/2010/main" val="2493062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498CA72-766B-4968-AC44-BCD2EBAFCC6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EFCBFE0-EE8B-4DF1-9140-5630ABA024E3}" type="slidenum">
              <a:rPr lang="en-US" smtClean="0"/>
              <a:t>‹#›</a:t>
            </a:fld>
            <a:endParaRPr lang="en-US"/>
          </a:p>
        </p:txBody>
      </p:sp>
    </p:spTree>
    <p:extLst>
      <p:ext uri="{BB962C8B-B14F-4D97-AF65-F5344CB8AC3E}">
        <p14:creationId xmlns:p14="http://schemas.microsoft.com/office/powerpoint/2010/main" val="249922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498CA72-766B-4968-AC44-BCD2EBAFCC6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EFCBFE0-EE8B-4DF1-9140-5630ABA024E3}" type="slidenum">
              <a:rPr lang="en-US" smtClean="0"/>
              <a:t>‹#›</a:t>
            </a:fld>
            <a:endParaRPr lang="en-US"/>
          </a:p>
        </p:txBody>
      </p:sp>
    </p:spTree>
    <p:extLst>
      <p:ext uri="{BB962C8B-B14F-4D97-AF65-F5344CB8AC3E}">
        <p14:creationId xmlns:p14="http://schemas.microsoft.com/office/powerpoint/2010/main" val="3864489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498CA72-766B-4968-AC44-BCD2EBAFCC6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EFCBFE0-EE8B-4DF1-9140-5630ABA024E3}" type="slidenum">
              <a:rPr lang="en-US" smtClean="0"/>
              <a:t>‹#›</a:t>
            </a:fld>
            <a:endParaRPr lang="en-US"/>
          </a:p>
        </p:txBody>
      </p:sp>
    </p:spTree>
    <p:extLst>
      <p:ext uri="{BB962C8B-B14F-4D97-AF65-F5344CB8AC3E}">
        <p14:creationId xmlns:p14="http://schemas.microsoft.com/office/powerpoint/2010/main" val="3377058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498CA72-766B-4968-AC44-BCD2EBAFCC64}"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EFCBFE0-EE8B-4DF1-9140-5630ABA024E3}" type="slidenum">
              <a:rPr lang="en-US" smtClean="0"/>
              <a:t>‹#›</a:t>
            </a:fld>
            <a:endParaRPr lang="en-US"/>
          </a:p>
        </p:txBody>
      </p:sp>
    </p:spTree>
    <p:extLst>
      <p:ext uri="{BB962C8B-B14F-4D97-AF65-F5344CB8AC3E}">
        <p14:creationId xmlns:p14="http://schemas.microsoft.com/office/powerpoint/2010/main" val="3047597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498CA72-766B-4968-AC44-BCD2EBAFCC64}"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EFCBFE0-EE8B-4DF1-9140-5630ABA024E3}" type="slidenum">
              <a:rPr lang="en-US" smtClean="0"/>
              <a:t>‹#›</a:t>
            </a:fld>
            <a:endParaRPr lang="en-US"/>
          </a:p>
        </p:txBody>
      </p:sp>
    </p:spTree>
    <p:extLst>
      <p:ext uri="{BB962C8B-B14F-4D97-AF65-F5344CB8AC3E}">
        <p14:creationId xmlns:p14="http://schemas.microsoft.com/office/powerpoint/2010/main" val="2594664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98CA72-766B-4968-AC44-BCD2EBAFCC64}"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EFCBFE0-EE8B-4DF1-9140-5630ABA024E3}" type="slidenum">
              <a:rPr lang="en-US" smtClean="0"/>
              <a:t>‹#›</a:t>
            </a:fld>
            <a:endParaRPr lang="en-US"/>
          </a:p>
        </p:txBody>
      </p:sp>
    </p:spTree>
    <p:extLst>
      <p:ext uri="{BB962C8B-B14F-4D97-AF65-F5344CB8AC3E}">
        <p14:creationId xmlns:p14="http://schemas.microsoft.com/office/powerpoint/2010/main" val="3776775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98CA72-766B-4968-AC44-BCD2EBAFCC6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EFCBFE0-EE8B-4DF1-9140-5630ABA024E3}" type="slidenum">
              <a:rPr lang="en-US" smtClean="0"/>
              <a:t>‹#›</a:t>
            </a:fld>
            <a:endParaRPr lang="en-US"/>
          </a:p>
        </p:txBody>
      </p:sp>
    </p:spTree>
    <p:extLst>
      <p:ext uri="{BB962C8B-B14F-4D97-AF65-F5344CB8AC3E}">
        <p14:creationId xmlns:p14="http://schemas.microsoft.com/office/powerpoint/2010/main" val="681732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98CA72-766B-4968-AC44-BCD2EBAFCC6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EFCBFE0-EE8B-4DF1-9140-5630ABA024E3}" type="slidenum">
              <a:rPr lang="en-US" smtClean="0"/>
              <a:t>‹#›</a:t>
            </a:fld>
            <a:endParaRPr lang="en-US"/>
          </a:p>
        </p:txBody>
      </p:sp>
    </p:spTree>
    <p:extLst>
      <p:ext uri="{BB962C8B-B14F-4D97-AF65-F5344CB8AC3E}">
        <p14:creationId xmlns:p14="http://schemas.microsoft.com/office/powerpoint/2010/main" val="2941461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498CA72-766B-4968-AC44-BCD2EBAFCC6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EFCBFE0-EE8B-4DF1-9140-5630ABA024E3}" type="slidenum">
              <a:rPr lang="en-US" smtClean="0"/>
              <a:t>‹#›</a:t>
            </a:fld>
            <a:endParaRPr lang="en-US"/>
          </a:p>
        </p:txBody>
      </p:sp>
    </p:spTree>
    <p:extLst>
      <p:ext uri="{BB962C8B-B14F-4D97-AF65-F5344CB8AC3E}">
        <p14:creationId xmlns:p14="http://schemas.microsoft.com/office/powerpoint/2010/main" val="2392103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498CA72-766B-4968-AC44-BCD2EBAFCC6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EFCBFE0-EE8B-4DF1-9140-5630ABA024E3}"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9044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9498CA72-766B-4968-AC44-BCD2EBAFCC6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EFCBFE0-EE8B-4DF1-9140-5630ABA024E3}" type="slidenum">
              <a:rPr lang="en-US" smtClean="0"/>
              <a:t>‹#›</a:t>
            </a:fld>
            <a:endParaRPr lang="en-US"/>
          </a:p>
        </p:txBody>
      </p:sp>
    </p:spTree>
    <p:extLst>
      <p:ext uri="{BB962C8B-B14F-4D97-AF65-F5344CB8AC3E}">
        <p14:creationId xmlns:p14="http://schemas.microsoft.com/office/powerpoint/2010/main" val="28680293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9498CA72-766B-4968-AC44-BCD2EBAFCC6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EFCBFE0-EE8B-4DF1-9140-5630ABA024E3}"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759149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9498CA72-766B-4968-AC44-BCD2EBAFCC6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EFCBFE0-EE8B-4DF1-9140-5630ABA024E3}" type="slidenum">
              <a:rPr lang="en-US" smtClean="0"/>
              <a:t>‹#›</a:t>
            </a:fld>
            <a:endParaRPr lang="en-US"/>
          </a:p>
        </p:txBody>
      </p:sp>
    </p:spTree>
    <p:extLst>
      <p:ext uri="{BB962C8B-B14F-4D97-AF65-F5344CB8AC3E}">
        <p14:creationId xmlns:p14="http://schemas.microsoft.com/office/powerpoint/2010/main" val="10238187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498CA72-766B-4968-AC44-BCD2EBAFCC6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EFCBFE0-EE8B-4DF1-9140-5630ABA024E3}" type="slidenum">
              <a:rPr lang="en-US" smtClean="0"/>
              <a:t>‹#›</a:t>
            </a:fld>
            <a:endParaRPr lang="en-US"/>
          </a:p>
        </p:txBody>
      </p:sp>
    </p:spTree>
    <p:extLst>
      <p:ext uri="{BB962C8B-B14F-4D97-AF65-F5344CB8AC3E}">
        <p14:creationId xmlns:p14="http://schemas.microsoft.com/office/powerpoint/2010/main" val="1215953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498CA72-766B-4968-AC44-BCD2EBAFCC6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EFCBFE0-EE8B-4DF1-9140-5630ABA024E3}" type="slidenum">
              <a:rPr lang="en-US" smtClean="0"/>
              <a:t>‹#›</a:t>
            </a:fld>
            <a:endParaRPr lang="en-US"/>
          </a:p>
        </p:txBody>
      </p:sp>
    </p:spTree>
    <p:extLst>
      <p:ext uri="{BB962C8B-B14F-4D97-AF65-F5344CB8AC3E}">
        <p14:creationId xmlns:p14="http://schemas.microsoft.com/office/powerpoint/2010/main" val="2414627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498CA72-766B-4968-AC44-BCD2EBAFCC64}" type="datetimeFigureOut">
              <a:rPr lang="en-US" smtClean="0"/>
              <a:t>12/15/2025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EFCBFE0-EE8B-4DF1-9140-5630ABA024E3}" type="slidenum">
              <a:rPr lang="en-US" smtClean="0"/>
              <a:t>‹#›</a:t>
            </a:fld>
            <a:endParaRPr lang="en-US"/>
          </a:p>
        </p:txBody>
      </p:sp>
    </p:spTree>
    <p:extLst>
      <p:ext uri="{BB962C8B-B14F-4D97-AF65-F5344CB8AC3E}">
        <p14:creationId xmlns:p14="http://schemas.microsoft.com/office/powerpoint/2010/main" val="1771361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68580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0" y="0"/>
            <a:ext cx="12192000" cy="6858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 xmlns:a16="http://schemas.microsoft.com/office/drawing/2014/main" id="{8AB56420-A66C-879B-9E66-6611B4AF5254}"/>
              </a:ext>
            </a:extLst>
          </p:cNvPr>
          <p:cNvSpPr txBox="1">
            <a:spLocks/>
          </p:cNvSpPr>
          <p:nvPr/>
        </p:nvSpPr>
        <p:spPr>
          <a:xfrm>
            <a:off x="1659325" y="943954"/>
            <a:ext cx="9316434" cy="2713646"/>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7200" b="1" spc="0" dirty="0" smtClean="0">
                <a:ln w="10160">
                  <a:solidFill>
                    <a:schemeClr val="accent1"/>
                  </a:solidFill>
                  <a:prstDash val="solid"/>
                </a:ln>
                <a:solidFill>
                  <a:srgbClr val="FFFFFF"/>
                </a:solidFill>
                <a:effectLst>
                  <a:outerShdw blurRad="38100" dist="22860" dir="5400000" algn="tl" rotWithShape="0">
                    <a:srgbClr val="000000">
                      <a:alpha val="30000"/>
                    </a:srgbClr>
                  </a:outerShdw>
                </a:effectLst>
                <a:latin typeface="Arial Rounded MT Bold" panose="020F0704030504030204" pitchFamily="34" charset="0"/>
              </a:rPr>
              <a:t>FITNESS RECOMMENDATION SYSTEM</a:t>
            </a:r>
            <a:endParaRPr lang="en-US" sz="7200" b="1" spc="0" dirty="0">
              <a:ln w="10160">
                <a:solidFill>
                  <a:schemeClr val="accent1"/>
                </a:solidFill>
                <a:prstDash val="solid"/>
              </a:ln>
              <a:solidFill>
                <a:srgbClr val="FFFFFF"/>
              </a:solidFill>
              <a:effectLst>
                <a:outerShdw blurRad="38100" dist="22860" dir="5400000" algn="tl" rotWithShape="0">
                  <a:srgbClr val="000000">
                    <a:alpha val="30000"/>
                  </a:srgbClr>
                </a:outerShdw>
              </a:effectLst>
              <a:latin typeface="Arial Rounded MT Bold" panose="020F0704030504030204" pitchFamily="34" charset="0"/>
            </a:endParaRPr>
          </a:p>
        </p:txBody>
      </p:sp>
      <p:sp>
        <p:nvSpPr>
          <p:cNvPr id="9" name="Content Placeholder 2">
            <a:extLst>
              <a:ext uri="{FF2B5EF4-FFF2-40B4-BE49-F238E27FC236}">
                <a16:creationId xmlns="" xmlns:a16="http://schemas.microsoft.com/office/drawing/2014/main" id="{F40957B6-8CAF-B9E7-9DB8-6AB2D8BB8356}"/>
              </a:ext>
            </a:extLst>
          </p:cNvPr>
          <p:cNvSpPr txBox="1">
            <a:spLocks/>
          </p:cNvSpPr>
          <p:nvPr/>
        </p:nvSpPr>
        <p:spPr>
          <a:xfrm>
            <a:off x="1366690" y="5341258"/>
            <a:ext cx="10027023" cy="1030513"/>
          </a:xfrm>
          <a:prstGeom prst="roundRect">
            <a:avLst/>
          </a:prstGeom>
          <a:noFill/>
          <a:ln w="38100">
            <a:solidFill>
              <a:schemeClr val="bg1"/>
            </a:solidFill>
            <a:prstDash val="sysDot"/>
          </a:ln>
        </p:spPr>
        <p:txBody>
          <a:bodyPr vert="horz" lIns="0" tIns="45720" rIns="0" bIns="45720" rtlCol="0">
            <a:normAutofit fontScale="400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endParaRPr lang="en-US" dirty="0" smtClean="0">
              <a:ln w="0"/>
              <a:solidFill>
                <a:schemeClr val="bg1"/>
              </a:solidFill>
              <a:effectLst>
                <a:outerShdw blurRad="38100" dist="19050" dir="2700000" algn="tl" rotWithShape="0">
                  <a:schemeClr val="dk1">
                    <a:alpha val="40000"/>
                  </a:schemeClr>
                </a:outerShdw>
              </a:effectLst>
              <a:latin typeface="Amasis MT Pro Medium" panose="02040604050005020304" pitchFamily="18" charset="0"/>
              <a:ea typeface="Times New Roman" panose="02020603050405020304" pitchFamily="18" charset="0"/>
              <a:cs typeface="Times New Roman" panose="02020603050405020304" pitchFamily="18" charset="0"/>
            </a:endParaRPr>
          </a:p>
          <a:p>
            <a:pPr marL="0" indent="0" algn="ctr">
              <a:buFont typeface="Calibri" panose="020F0502020204030204" pitchFamily="34" charset="0"/>
              <a:buNone/>
            </a:pPr>
            <a:r>
              <a:rPr lang="en-US" sz="5900" b="1" dirty="0" smtClean="0">
                <a:ln w="0"/>
                <a:solidFill>
                  <a:schemeClr val="bg1"/>
                </a:solidFill>
                <a:effectLst>
                  <a:outerShdw blurRad="38100" dist="19050" dir="2700000" algn="tl" rotWithShape="0">
                    <a:schemeClr val="dk1">
                      <a:alpha val="40000"/>
                    </a:schemeClr>
                  </a:outerShdw>
                </a:effectLst>
                <a:latin typeface="Mongolian Baiti" panose="03000500000000000000" pitchFamily="66" charset="0"/>
                <a:ea typeface="Times New Roman" panose="02020603050405020304" pitchFamily="18" charset="0"/>
                <a:cs typeface="Mongolian Baiti" panose="03000500000000000000" pitchFamily="66" charset="0"/>
              </a:rPr>
              <a:t>Personalized fitness plans powered by smart design patterns and real-time user data</a:t>
            </a:r>
            <a:endParaRPr lang="en-US" sz="3400" b="1" dirty="0">
              <a:ln w="0"/>
              <a:solidFill>
                <a:schemeClr val="bg1"/>
              </a:solidFill>
              <a:effectLst>
                <a:outerShdw blurRad="38100" dist="19050" dir="2700000" algn="tl" rotWithShape="0">
                  <a:schemeClr val="dk1">
                    <a:alpha val="40000"/>
                  </a:schemeClr>
                </a:outerShdw>
              </a:effectLst>
              <a:latin typeface="Mongolian Baiti" panose="03000500000000000000" pitchFamily="66" charset="0"/>
              <a:cs typeface="Mongolian Baiti" panose="03000500000000000000" pitchFamily="66" charset="0"/>
            </a:endParaRPr>
          </a:p>
        </p:txBody>
      </p:sp>
    </p:spTree>
    <p:extLst>
      <p:ext uri="{BB962C8B-B14F-4D97-AF65-F5344CB8AC3E}">
        <p14:creationId xmlns:p14="http://schemas.microsoft.com/office/powerpoint/2010/main" val="16967939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11499" y="1927538"/>
            <a:ext cx="5631845" cy="3777622"/>
          </a:xfrm>
          <a:ln>
            <a:noFill/>
          </a:ln>
        </p:spPr>
        <p:txBody>
          <a:bodyPr>
            <a:normAutofit fontScale="92500" lnSpcReduction="20000"/>
          </a:bodyPr>
          <a:lstStyle/>
          <a:p>
            <a:pPr marL="0" indent="0">
              <a:buNone/>
            </a:pPr>
            <a:r>
              <a:rPr lang="en-US" sz="36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The goal is to develop a system that leverages design patterns to generate personalized fitness and </a:t>
            </a:r>
            <a:r>
              <a:rPr lang="en-US" sz="36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exercise plans </a:t>
            </a:r>
            <a:r>
              <a:rPr lang="en-US" sz="36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tailored to individual user attributes such as age, </a:t>
            </a:r>
            <a:r>
              <a:rPr lang="en-US" sz="36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weight, activity level </a:t>
            </a:r>
            <a:r>
              <a:rPr lang="en-US" sz="36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and fitness goals, providing customized recommendations for exercises, diets, and equipment.</a:t>
            </a:r>
            <a:endParaRPr lang="en-US" sz="36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ea typeface="Arial MT"/>
              <a:cs typeface="Arial MT"/>
            </a:endParaRPr>
          </a:p>
          <a:p>
            <a:endParaRPr lang="en-US" dirty="0"/>
          </a:p>
        </p:txBody>
      </p:sp>
      <p:sp>
        <p:nvSpPr>
          <p:cNvPr id="4" name="Title 1">
            <a:extLst>
              <a:ext uri="{FF2B5EF4-FFF2-40B4-BE49-F238E27FC236}">
                <a16:creationId xmlns="" xmlns:a16="http://schemas.microsoft.com/office/drawing/2014/main" id="{9AEB8900-808F-D2B5-4AF0-C8D9EDD84771}"/>
              </a:ext>
            </a:extLst>
          </p:cNvPr>
          <p:cNvSpPr txBox="1">
            <a:spLocks/>
          </p:cNvSpPr>
          <p:nvPr/>
        </p:nvSpPr>
        <p:spPr>
          <a:xfrm>
            <a:off x="7043689" y="680299"/>
            <a:ext cx="4474800" cy="907983"/>
          </a:xfrm>
          <a:prstGeom prst="rect">
            <a:avLst/>
          </a:prstGeom>
        </p:spPr>
        <p:txBody>
          <a:bodyPr vert="horz" lIns="91440" tIns="45720" rIns="91440" bIns="45720" rtlCol="0" anchor="b">
            <a:normAutofit fontScale="82500" lnSpcReduction="2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pc="0" dirty="0" smtClean="0">
                <a:ln w="0"/>
                <a:solidFill>
                  <a:schemeClr val="tx1"/>
                </a:solidFill>
                <a:effectLst>
                  <a:outerShdw blurRad="38100" dist="19050" dir="2700000" algn="tl" rotWithShape="0">
                    <a:schemeClr val="dk1">
                      <a:alpha val="40000"/>
                    </a:schemeClr>
                  </a:outerShdw>
                </a:effectLst>
                <a:latin typeface="Arial Rounded MT Bold" panose="020F0704030504030204" pitchFamily="34" charset="0"/>
              </a:rPr>
              <a:t>WHAT’S THE GOAL?</a:t>
            </a:r>
            <a:endParaRPr lang="en-US" spc="0" dirty="0">
              <a:ln w="0"/>
              <a:solidFill>
                <a:schemeClr val="tx1"/>
              </a:solidFill>
              <a:effectLst>
                <a:outerShdw blurRad="38100" dist="19050" dir="2700000" algn="tl" rotWithShape="0">
                  <a:schemeClr val="dk1">
                    <a:alpha val="40000"/>
                  </a:schemeClr>
                </a:outerShdw>
              </a:effectLst>
              <a:latin typeface="Arial Rounded MT Bold" panose="020F0704030504030204" pitchFamily="34" charset="0"/>
            </a:endParaRPr>
          </a:p>
        </p:txBody>
      </p:sp>
      <p:grpSp>
        <p:nvGrpSpPr>
          <p:cNvPr id="5" name="Graphic 4">
            <a:extLst>
              <a:ext uri="{FF2B5EF4-FFF2-40B4-BE49-F238E27FC236}">
                <a16:creationId xmlns="" xmlns:a16="http://schemas.microsoft.com/office/drawing/2014/main" id="{57CD476F-4071-4E06-BD94-582AC00926A6}"/>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6173349" y="210930"/>
            <a:ext cx="849365" cy="849366"/>
            <a:chOff x="5829300" y="3162300"/>
            <a:chExt cx="532256" cy="532257"/>
          </a:xfrm>
          <a:solidFill>
            <a:schemeClr val="tx1"/>
          </a:solidFill>
        </p:grpSpPr>
        <p:sp>
          <p:nvSpPr>
            <p:cNvPr id="6" name="Freeform: Shape 21">
              <a:extLst>
                <a:ext uri="{FF2B5EF4-FFF2-40B4-BE49-F238E27FC236}">
                  <a16:creationId xmlns="" xmlns:a16="http://schemas.microsoft.com/office/drawing/2014/main" id="{7B6A3560-202E-47CB-A0A4-7BAA40CEDB14}"/>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dirty="0"/>
            </a:p>
          </p:txBody>
        </p:sp>
        <p:sp>
          <p:nvSpPr>
            <p:cNvPr id="7" name="Freeform: Shape 22">
              <a:extLst>
                <a:ext uri="{FF2B5EF4-FFF2-40B4-BE49-F238E27FC236}">
                  <a16:creationId xmlns="" xmlns:a16="http://schemas.microsoft.com/office/drawing/2014/main" id="{8DCE699C-0879-4B2A-BD24-CE9CB03F0913}"/>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dirty="0"/>
            </a:p>
          </p:txBody>
        </p:sp>
        <p:sp>
          <p:nvSpPr>
            <p:cNvPr id="8" name="Freeform: Shape 23">
              <a:extLst>
                <a:ext uri="{FF2B5EF4-FFF2-40B4-BE49-F238E27FC236}">
                  <a16:creationId xmlns="" xmlns:a16="http://schemas.microsoft.com/office/drawing/2014/main" id="{739C6C48-4048-472B-9200-BA3467DDB12B}"/>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9" name="Freeform: Shape 24">
              <a:extLst>
                <a:ext uri="{FF2B5EF4-FFF2-40B4-BE49-F238E27FC236}">
                  <a16:creationId xmlns="" xmlns:a16="http://schemas.microsoft.com/office/drawing/2014/main" id="{DBE535A2-9A69-4D86-98B9-4606364B738A}"/>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dirty="0"/>
            </a:p>
          </p:txBody>
        </p:sp>
        <p:sp>
          <p:nvSpPr>
            <p:cNvPr id="10" name="Freeform: Shape 25">
              <a:extLst>
                <a:ext uri="{FF2B5EF4-FFF2-40B4-BE49-F238E27FC236}">
                  <a16:creationId xmlns="" xmlns:a16="http://schemas.microsoft.com/office/drawing/2014/main" id="{6D38EB57-352E-48E7-9482-1AEA73843381}"/>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dirty="0"/>
            </a:p>
          </p:txBody>
        </p:sp>
        <p:sp>
          <p:nvSpPr>
            <p:cNvPr id="11" name="Freeform: Shape 26">
              <a:extLst>
                <a:ext uri="{FF2B5EF4-FFF2-40B4-BE49-F238E27FC236}">
                  <a16:creationId xmlns="" xmlns:a16="http://schemas.microsoft.com/office/drawing/2014/main" id="{D18EEB6E-44FD-4775-9179-950DB8C3DC46}"/>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dirty="0"/>
            </a:p>
          </p:txBody>
        </p:sp>
        <p:sp>
          <p:nvSpPr>
            <p:cNvPr id="12" name="Freeform: Shape 27">
              <a:extLst>
                <a:ext uri="{FF2B5EF4-FFF2-40B4-BE49-F238E27FC236}">
                  <a16:creationId xmlns="" xmlns:a16="http://schemas.microsoft.com/office/drawing/2014/main" id="{A93B6FB8-B03E-4FC7-AC61-9B1613A3C05C}"/>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dirty="0"/>
            </a:p>
          </p:txBody>
        </p:sp>
        <p:sp>
          <p:nvSpPr>
            <p:cNvPr id="13" name="Freeform: Shape 28">
              <a:extLst>
                <a:ext uri="{FF2B5EF4-FFF2-40B4-BE49-F238E27FC236}">
                  <a16:creationId xmlns="" xmlns:a16="http://schemas.microsoft.com/office/drawing/2014/main" id="{96E9617C-8511-4D9B-94C1-C84BFB7ED322}"/>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dirty="0"/>
            </a:p>
          </p:txBody>
        </p:sp>
        <p:sp>
          <p:nvSpPr>
            <p:cNvPr id="14" name="Freeform: Shape 29">
              <a:extLst>
                <a:ext uri="{FF2B5EF4-FFF2-40B4-BE49-F238E27FC236}">
                  <a16:creationId xmlns="" xmlns:a16="http://schemas.microsoft.com/office/drawing/2014/main" id="{B076EA5A-A5A8-42A9-A0F7-ECECD999F6C0}"/>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dirty="0"/>
            </a:p>
          </p:txBody>
        </p:sp>
        <p:sp>
          <p:nvSpPr>
            <p:cNvPr id="15" name="Freeform: Shape 30">
              <a:extLst>
                <a:ext uri="{FF2B5EF4-FFF2-40B4-BE49-F238E27FC236}">
                  <a16:creationId xmlns="" xmlns:a16="http://schemas.microsoft.com/office/drawing/2014/main" id="{55856DB2-44EF-413E-B792-EFF0409DE14B}"/>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dirty="0"/>
            </a:p>
          </p:txBody>
        </p:sp>
        <p:sp>
          <p:nvSpPr>
            <p:cNvPr id="16" name="Freeform: Shape 31">
              <a:extLst>
                <a:ext uri="{FF2B5EF4-FFF2-40B4-BE49-F238E27FC236}">
                  <a16:creationId xmlns="" xmlns:a16="http://schemas.microsoft.com/office/drawing/2014/main" id="{3E2C35C7-1280-4F14-9553-11374063EBED}"/>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dirty="0"/>
            </a:p>
          </p:txBody>
        </p:sp>
        <p:sp>
          <p:nvSpPr>
            <p:cNvPr id="17" name="Freeform: Shape 32">
              <a:extLst>
                <a:ext uri="{FF2B5EF4-FFF2-40B4-BE49-F238E27FC236}">
                  <a16:creationId xmlns="" xmlns:a16="http://schemas.microsoft.com/office/drawing/2014/main" id="{A0376E68-4370-4BE5-917D-39794960D892}"/>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dirty="0"/>
            </a:p>
          </p:txBody>
        </p:sp>
        <p:sp>
          <p:nvSpPr>
            <p:cNvPr id="18" name="Freeform: Shape 33">
              <a:extLst>
                <a:ext uri="{FF2B5EF4-FFF2-40B4-BE49-F238E27FC236}">
                  <a16:creationId xmlns="" xmlns:a16="http://schemas.microsoft.com/office/drawing/2014/main" id="{90D187E9-AB0A-480D-B60A-74F7F26FFACD}"/>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pSp>
        <p:nvGrpSpPr>
          <p:cNvPr id="24" name="Group 23">
            <a:extLst>
              <a:ext uri="{FF2B5EF4-FFF2-40B4-BE49-F238E27FC236}">
                <a16:creationId xmlns="" xmlns:a16="http://schemas.microsoft.com/office/drawing/2014/main" id="{732A444C-81CA-4D10-998B-529CE31D356C}"/>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938487" y="501373"/>
            <a:ext cx="4985920" cy="6036682"/>
            <a:chOff x="1631079" y="1345036"/>
            <a:chExt cx="5472426" cy="4210940"/>
          </a:xfrm>
          <a:solidFill>
            <a:schemeClr val="accent1"/>
          </a:solidFill>
        </p:grpSpPr>
        <p:sp>
          <p:nvSpPr>
            <p:cNvPr id="25" name="Rectangle 24">
              <a:extLst>
                <a:ext uri="{FF2B5EF4-FFF2-40B4-BE49-F238E27FC236}">
                  <a16:creationId xmlns="" xmlns:a16="http://schemas.microsoft.com/office/drawing/2014/main" id="{A66CC0ED-7D4E-4CE4-A15A-A6FF507AE3F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1674895" y="1345036"/>
              <a:ext cx="5428610" cy="4210939"/>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 xmlns:a16="http://schemas.microsoft.com/office/drawing/2014/main" id="{56042E25-B074-48D7-9694-5C952710874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1631079" y="1371983"/>
              <a:ext cx="5328177" cy="4183993"/>
            </a:xfrm>
            <a:prstGeom prst="rect">
              <a:avLst/>
            </a:pr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 xmlns:a16="http://schemas.microsoft.com/office/drawing/2014/main" id="{732A444C-81CA-4D10-998B-529CE31D356C}"/>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826008" y="348973"/>
            <a:ext cx="4945999" cy="6036681"/>
            <a:chOff x="1674895" y="1345036"/>
            <a:chExt cx="5428610" cy="4210939"/>
          </a:xfrm>
          <a:solidFill>
            <a:schemeClr val="bg1"/>
          </a:solidFill>
        </p:grpSpPr>
        <p:sp>
          <p:nvSpPr>
            <p:cNvPr id="20" name="Rectangle 19">
              <a:extLst>
                <a:ext uri="{FF2B5EF4-FFF2-40B4-BE49-F238E27FC236}">
                  <a16:creationId xmlns="" xmlns:a16="http://schemas.microsoft.com/office/drawing/2014/main" id="{A66CC0ED-7D4E-4CE4-A15A-A6FF507AE3F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1674895" y="1345036"/>
              <a:ext cx="5428610" cy="4210939"/>
            </a:xfrm>
            <a:prstGeom prst="rect">
              <a:avLst/>
            </a:prstGeom>
            <a:grp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 xmlns:a16="http://schemas.microsoft.com/office/drawing/2014/main" id="{56042E25-B074-48D7-9694-5C9527108745}"/>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1674895" y="1345036"/>
              <a:ext cx="5428610" cy="4210939"/>
            </a:xfrm>
            <a:prstGeom prst="rect">
              <a:avLst/>
            </a:prstGeom>
            <a:grp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2" name="Picture 21">
            <a:extLst>
              <a:ext uri="{FF2B5EF4-FFF2-40B4-BE49-F238E27FC236}">
                <a16:creationId xmlns="" xmlns:a16="http://schemas.microsoft.com/office/drawing/2014/main" id="{952DC146-7370-8BCF-7977-EB48B228F9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4386" y="1250522"/>
            <a:ext cx="2848290" cy="1354032"/>
          </a:xfrm>
          <a:prstGeom prst="rect">
            <a:avLst/>
          </a:prstGeom>
          <a:ln>
            <a:solidFill>
              <a:schemeClr val="bg1"/>
            </a:solidFill>
          </a:ln>
        </p:spPr>
      </p:pic>
      <p:pic>
        <p:nvPicPr>
          <p:cNvPr id="23" name="Google Shape;640;p52">
            <a:extLst>
              <a:ext uri="{FF2B5EF4-FFF2-40B4-BE49-F238E27FC236}">
                <a16:creationId xmlns="" xmlns:a16="http://schemas.microsoft.com/office/drawing/2014/main" id="{B12BF29B-1B20-C30D-822A-D690CCD65F16}"/>
              </a:ext>
            </a:extLst>
          </p:cNvPr>
          <p:cNvPicPr preferRelativeResize="0"/>
          <p:nvPr/>
        </p:nvPicPr>
        <p:blipFill>
          <a:blip r:embed="rId3" cstate="print">
            <a:extLst>
              <a:ext uri="{28A0092B-C50C-407E-A947-70E740481C1C}">
                <a14:useLocalDpi xmlns:a14="http://schemas.microsoft.com/office/drawing/2010/main" val="0"/>
              </a:ext>
            </a:extLst>
          </a:blip>
          <a:stretch>
            <a:fillRect/>
          </a:stretch>
        </p:blipFill>
        <p:spPr>
          <a:xfrm>
            <a:off x="2083899" y="3274944"/>
            <a:ext cx="2430216" cy="2430216"/>
          </a:xfrm>
          <a:prstGeom prst="rect">
            <a:avLst/>
          </a:prstGeom>
          <a:ln>
            <a:solidFill>
              <a:schemeClr val="bg1"/>
            </a:solidFill>
          </a:ln>
        </p:spPr>
      </p:pic>
    </p:spTree>
    <p:extLst>
      <p:ext uri="{BB962C8B-B14F-4D97-AF65-F5344CB8AC3E}">
        <p14:creationId xmlns:p14="http://schemas.microsoft.com/office/powerpoint/2010/main" val="30574689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9FA80415-2D57-C7F0-7E55-3D3C2477851F}"/>
              </a:ext>
            </a:extLst>
          </p:cNvPr>
          <p:cNvSpPr txBox="1">
            <a:spLocks/>
          </p:cNvSpPr>
          <p:nvPr/>
        </p:nvSpPr>
        <p:spPr>
          <a:xfrm>
            <a:off x="2072200" y="624110"/>
            <a:ext cx="4391024" cy="132343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smtClean="0">
                <a:ln w="0"/>
                <a:solidFill>
                  <a:schemeClr val="accent1"/>
                </a:solidFill>
                <a:effectLst>
                  <a:outerShdw blurRad="38100" dist="25400" dir="5400000" algn="ctr" rotWithShape="0">
                    <a:srgbClr val="6E747A">
                      <a:alpha val="43000"/>
                    </a:srgbClr>
                  </a:outerShdw>
                </a:effectLst>
                <a:latin typeface="Arial Rounded MT Bold" panose="020F0704030504030204" pitchFamily="34" charset="0"/>
              </a:rPr>
              <a:t>CHALLENGES</a:t>
            </a:r>
            <a:endParaRPr lang="en-US" sz="4000" dirty="0">
              <a:ln w="0"/>
              <a:solidFill>
                <a:schemeClr val="accent1"/>
              </a:solidFill>
              <a:effectLst>
                <a:outerShdw blurRad="38100" dist="25400" dir="5400000" algn="ctr" rotWithShape="0">
                  <a:srgbClr val="6E747A">
                    <a:alpha val="43000"/>
                  </a:srgbClr>
                </a:outerShdw>
              </a:effectLst>
              <a:latin typeface="Arial Rounded MT Bold" panose="020F0704030504030204" pitchFamily="34" charset="0"/>
            </a:endParaRPr>
          </a:p>
        </p:txBody>
      </p:sp>
      <p:sp>
        <p:nvSpPr>
          <p:cNvPr id="5" name="Content Placeholder 2">
            <a:extLst>
              <a:ext uri="{FF2B5EF4-FFF2-40B4-BE49-F238E27FC236}">
                <a16:creationId xmlns="" xmlns:a16="http://schemas.microsoft.com/office/drawing/2014/main" id="{7FC49937-19C4-3F5A-3E38-A3746C2556EC}"/>
              </a:ext>
            </a:extLst>
          </p:cNvPr>
          <p:cNvSpPr txBox="1">
            <a:spLocks noGrp="1"/>
          </p:cNvSpPr>
          <p:nvPr>
            <p:ph idx="1"/>
          </p:nvPr>
        </p:nvSpPr>
        <p:spPr>
          <a:xfrm>
            <a:off x="1841678" y="1515413"/>
            <a:ext cx="4621546" cy="422856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ea typeface="Arial MT"/>
                <a:cs typeface="Times New Roman" panose="02020603050405020304" pitchFamily="18" charset="0"/>
              </a:rPr>
              <a:t>Handling complex personalization for each user’s fitness goal</a:t>
            </a:r>
          </a:p>
          <a:p>
            <a:r>
              <a:rPr lang="en-US" sz="30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ea typeface="Arial MT"/>
                <a:cs typeface="Times New Roman" panose="02020603050405020304" pitchFamily="18" charset="0"/>
              </a:rPr>
              <a:t>Responding to changing user data and health metrics in real-time </a:t>
            </a:r>
          </a:p>
          <a:p>
            <a:r>
              <a:rPr lang="en-US" sz="30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ea typeface="Arial MT"/>
                <a:cs typeface="Times New Roman" panose="02020603050405020304" pitchFamily="18" charset="0"/>
              </a:rPr>
              <a:t>Implementing and integrating selected design patterns effectively</a:t>
            </a:r>
          </a:p>
          <a:p>
            <a:r>
              <a:rPr lang="en-US" sz="30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ea typeface="Arial MT"/>
                <a:cs typeface="Times New Roman" panose="02020603050405020304" pitchFamily="18" charset="0"/>
              </a:rPr>
              <a:t>Generating relevant, adaptable fitness recommendations</a:t>
            </a:r>
          </a:p>
          <a:p>
            <a:endParaRPr lang="en-US" sz="2400" dirty="0">
              <a:ln w="0"/>
              <a:solidFill>
                <a:schemeClr val="accent1"/>
              </a:solidFill>
              <a:effectLst>
                <a:outerShdw blurRad="38100" dist="25400" dir="5400000" algn="ctr" rotWithShape="0">
                  <a:srgbClr val="6E747A">
                    <a:alpha val="43000"/>
                  </a:srgbClr>
                </a:outerShdw>
              </a:effectLst>
            </a:endParaRPr>
          </a:p>
        </p:txBody>
      </p:sp>
      <p:pic>
        <p:nvPicPr>
          <p:cNvPr id="8" name="Picture 4" descr="Exercise Recommendations | Active Living | Health Topics | The Center for  Student Well-Being | University of South Florida"/>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7208229" y="751000"/>
            <a:ext cx="4274871" cy="5137763"/>
          </a:xfrm>
          <a:prstGeom prst="rect">
            <a:avLst/>
          </a:prstGeom>
          <a:noFill/>
          <a:ln w="38100">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74016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C31A13C3-E868-1E58-D739-17D6AEF5660E}"/>
              </a:ext>
            </a:extLst>
          </p:cNvPr>
          <p:cNvSpPr txBox="1">
            <a:spLocks/>
          </p:cNvSpPr>
          <p:nvPr/>
        </p:nvSpPr>
        <p:spPr>
          <a:xfrm>
            <a:off x="2357574" y="367585"/>
            <a:ext cx="5733352" cy="1013130"/>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800" dirty="0" smtClean="0">
                <a:ln w="0"/>
                <a:solidFill>
                  <a:schemeClr val="accent1"/>
                </a:solidFill>
                <a:effectLst>
                  <a:outerShdw blurRad="38100" dist="25400" dir="5400000" algn="ctr" rotWithShape="0">
                    <a:srgbClr val="6E747A">
                      <a:alpha val="43000"/>
                    </a:srgbClr>
                  </a:outerShdw>
                </a:effectLst>
                <a:latin typeface="Arial Rounded MT Bold" panose="020F0704030504030204" pitchFamily="34" charset="0"/>
              </a:rPr>
              <a:t>OUTCOMES</a:t>
            </a:r>
            <a:endParaRPr lang="en-US" sz="4800" dirty="0">
              <a:ln w="0"/>
              <a:solidFill>
                <a:schemeClr val="accent1"/>
              </a:solidFill>
              <a:effectLst>
                <a:outerShdw blurRad="38100" dist="25400" dir="5400000" algn="ctr" rotWithShape="0">
                  <a:srgbClr val="6E747A">
                    <a:alpha val="43000"/>
                  </a:srgbClr>
                </a:outerShdw>
              </a:effectLst>
              <a:latin typeface="Arial Rounded MT Bold" panose="020F0704030504030204" pitchFamily="34" charset="0"/>
            </a:endParaRPr>
          </a:p>
        </p:txBody>
      </p:sp>
      <p:sp>
        <p:nvSpPr>
          <p:cNvPr id="5" name="Rectangle 1"/>
          <p:cNvSpPr txBox="1">
            <a:spLocks noChangeArrowheads="1"/>
          </p:cNvSpPr>
          <p:nvPr/>
        </p:nvSpPr>
        <p:spPr bwMode="auto">
          <a:xfrm>
            <a:off x="1584838" y="1380715"/>
            <a:ext cx="10444029"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defTabSz="914400" eaLnBrk="0" fontAlgn="base" hangingPunct="0">
              <a:spcBef>
                <a:spcPct val="0"/>
              </a:spcBef>
              <a:spcAft>
                <a:spcPct val="0"/>
              </a:spcAft>
              <a:buClrTx/>
              <a:buFont typeface="Wingdings" panose="05000000000000000000" pitchFamily="2" charset="2"/>
              <a:buChar char="§"/>
            </a:pPr>
            <a:r>
              <a:rPr lang="en-US" sz="28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Automatically updates fitness plans when user activity level changes</a:t>
            </a:r>
          </a:p>
          <a:p>
            <a:pPr defTabSz="914400" eaLnBrk="0" fontAlgn="base" hangingPunct="0">
              <a:spcBef>
                <a:spcPct val="0"/>
              </a:spcBef>
              <a:spcAft>
                <a:spcPct val="0"/>
              </a:spcAft>
              <a:buClrTx/>
              <a:buFont typeface="Wingdings" panose="05000000000000000000" pitchFamily="2" charset="2"/>
              <a:buChar char="§"/>
            </a:pPr>
            <a:r>
              <a:rPr lang="en-US" sz="28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Recommends personalized workout plans: Beginner, Intermediate, or Advanced</a:t>
            </a:r>
          </a:p>
          <a:p>
            <a:pPr defTabSz="914400" eaLnBrk="0" fontAlgn="base" hangingPunct="0">
              <a:spcBef>
                <a:spcPct val="0"/>
              </a:spcBef>
              <a:spcAft>
                <a:spcPct val="0"/>
              </a:spcAft>
              <a:buClrTx/>
              <a:buFont typeface="Wingdings" panose="05000000000000000000" pitchFamily="2" charset="2"/>
              <a:buChar char="§"/>
            </a:pPr>
            <a:r>
              <a:rPr lang="en-US" sz="28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Handles invalid or unexpected input gracefully with fallback messaging</a:t>
            </a:r>
          </a:p>
          <a:p>
            <a:pPr defTabSz="914400" eaLnBrk="0" fontAlgn="base" hangingPunct="0">
              <a:spcBef>
                <a:spcPct val="0"/>
              </a:spcBef>
              <a:spcAft>
                <a:spcPct val="0"/>
              </a:spcAft>
              <a:buClrTx/>
              <a:buFont typeface="Wingdings" panose="05000000000000000000" pitchFamily="2" charset="2"/>
              <a:buChar char="§"/>
            </a:pPr>
            <a:r>
              <a:rPr lang="en-US" sz="28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Allows new recommendation strategies to be added without changing existing code</a:t>
            </a:r>
          </a:p>
          <a:p>
            <a:pPr defTabSz="914400" eaLnBrk="0" fontAlgn="base" hangingPunct="0">
              <a:spcBef>
                <a:spcPct val="0"/>
              </a:spcBef>
              <a:spcAft>
                <a:spcPct val="0"/>
              </a:spcAft>
              <a:buClrTx/>
              <a:buFont typeface="Wingdings" panose="05000000000000000000" pitchFamily="2" charset="2"/>
              <a:buChar char="§"/>
            </a:pPr>
            <a:r>
              <a:rPr lang="en-US" sz="28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Switches strategies in real-time — no need to restart or recompile</a:t>
            </a:r>
          </a:p>
          <a:p>
            <a:pPr defTabSz="914400" eaLnBrk="0" fontAlgn="base" hangingPunct="0">
              <a:spcBef>
                <a:spcPct val="0"/>
              </a:spcBef>
              <a:spcAft>
                <a:spcPct val="0"/>
              </a:spcAft>
              <a:buClrTx/>
              <a:buFont typeface="Wingdings" panose="05000000000000000000" pitchFamily="2" charset="2"/>
              <a:buChar char="§"/>
            </a:pPr>
            <a:r>
              <a:rPr lang="en-US" sz="28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Keeps logic and data management cleanly separated for better maintainability</a:t>
            </a:r>
          </a:p>
          <a:p>
            <a:pPr defTabSz="914400" eaLnBrk="0" fontAlgn="base" hangingPunct="0">
              <a:spcBef>
                <a:spcPct val="0"/>
              </a:spcBef>
              <a:spcAft>
                <a:spcPct val="0"/>
              </a:spcAft>
              <a:buClrTx/>
              <a:buFont typeface="Wingdings" panose="05000000000000000000" pitchFamily="2" charset="2"/>
              <a:buChar char="§"/>
            </a:pPr>
            <a:r>
              <a:rPr lang="en-US" sz="28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Supports future extensions like Yoga, Recovery, or Sport-specific strategies</a:t>
            </a:r>
          </a:p>
          <a:p>
            <a:pPr defTabSz="914400" eaLnBrk="0" fontAlgn="base" hangingPunct="0">
              <a:spcBef>
                <a:spcPct val="0"/>
              </a:spcBef>
              <a:spcAft>
                <a:spcPct val="0"/>
              </a:spcAft>
              <a:buClrTx/>
              <a:buFont typeface="Wingdings" panose="05000000000000000000" pitchFamily="2" charset="2"/>
              <a:buChar char="§"/>
            </a:pPr>
            <a:r>
              <a:rPr lang="en-US" sz="28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Ensures observers are always in sync with user data (real-time updates)</a:t>
            </a:r>
          </a:p>
          <a:p>
            <a:pPr defTabSz="914400" eaLnBrk="0" fontAlgn="base" hangingPunct="0">
              <a:spcBef>
                <a:spcPct val="0"/>
              </a:spcBef>
              <a:spcAft>
                <a:spcPct val="0"/>
              </a:spcAft>
              <a:buClrTx/>
              <a:buFont typeface="Wingdings" panose="05000000000000000000" pitchFamily="2" charset="2"/>
              <a:buChar char="§"/>
            </a:pPr>
            <a:r>
              <a:rPr lang="en-US" sz="28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Provides clear feedback to users based on their current health metrics</a:t>
            </a:r>
          </a:p>
          <a:p>
            <a:pPr defTabSz="914400" eaLnBrk="0" fontAlgn="base" hangingPunct="0">
              <a:spcBef>
                <a:spcPct val="0"/>
              </a:spcBef>
              <a:spcAft>
                <a:spcPct val="0"/>
              </a:spcAft>
              <a:buClrTx/>
              <a:buFont typeface="Wingdings" panose="05000000000000000000" pitchFamily="2" charset="2"/>
              <a:buChar char="§"/>
            </a:pPr>
            <a:r>
              <a:rPr lang="en-US" sz="28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Promotes scalability — the system is ready to grow with user needs</a:t>
            </a:r>
          </a:p>
        </p:txBody>
      </p:sp>
    </p:spTree>
    <p:extLst>
      <p:ext uri="{BB962C8B-B14F-4D97-AF65-F5344CB8AC3E}">
        <p14:creationId xmlns:p14="http://schemas.microsoft.com/office/powerpoint/2010/main" val="22566890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610417" y="546837"/>
            <a:ext cx="8911687" cy="1280890"/>
          </a:xfrm>
        </p:spPr>
        <p:txBody>
          <a:bodyPr/>
          <a:lstStyle/>
          <a:p>
            <a:r>
              <a:rPr lang="en-US" dirty="0">
                <a:ln w="0"/>
                <a:solidFill>
                  <a:schemeClr val="accent1"/>
                </a:solidFill>
                <a:effectLst>
                  <a:outerShdw blurRad="38100" dist="25400" dir="5400000" algn="ctr" rotWithShape="0">
                    <a:srgbClr val="6E747A">
                      <a:alpha val="43000"/>
                    </a:srgbClr>
                  </a:outerShdw>
                </a:effectLst>
                <a:latin typeface="Arial Rounded MT Bold" panose="020F0704030504030204" pitchFamily="34" charset="0"/>
              </a:rPr>
              <a:t>WHAT ARE DESIGN PATTERNS?</a:t>
            </a:r>
            <a:r>
              <a:rPr lang="en-US" dirty="0">
                <a:ln>
                  <a:solidFill>
                    <a:schemeClr val="bg1"/>
                  </a:solidFill>
                </a:ln>
                <a:solidFill>
                  <a:schemeClr val="bg1"/>
                </a:solidFill>
                <a:effectLst>
                  <a:glow rad="101600">
                    <a:schemeClr val="accent6">
                      <a:satMod val="175000"/>
                      <a:alpha val="40000"/>
                    </a:schemeClr>
                  </a:glow>
                  <a:outerShdw blurRad="50800" dist="38100" dir="2700000" algn="tl" rotWithShape="0">
                    <a:prstClr val="black">
                      <a:alpha val="40000"/>
                    </a:prstClr>
                  </a:outerShdw>
                </a:effectLst>
                <a:latin typeface="Arial Rounded MT Bold" panose="020F0704030504030204" pitchFamily="34" charset="0"/>
              </a:rPr>
              <a:t/>
            </a:r>
            <a:br>
              <a:rPr lang="en-US" dirty="0">
                <a:ln>
                  <a:solidFill>
                    <a:schemeClr val="bg1"/>
                  </a:solidFill>
                </a:ln>
                <a:solidFill>
                  <a:schemeClr val="bg1"/>
                </a:solidFill>
                <a:effectLst>
                  <a:glow rad="101600">
                    <a:schemeClr val="accent6">
                      <a:satMod val="175000"/>
                      <a:alpha val="40000"/>
                    </a:schemeClr>
                  </a:glow>
                  <a:outerShdw blurRad="50800" dist="38100" dir="2700000" algn="tl" rotWithShape="0">
                    <a:prstClr val="black">
                      <a:alpha val="40000"/>
                    </a:prstClr>
                  </a:outerShdw>
                </a:effectLst>
                <a:latin typeface="Arial Rounded MT Bold" panose="020F0704030504030204" pitchFamily="34" charset="0"/>
              </a:rPr>
            </a:br>
            <a:endParaRPr lang="en-US" dirty="0"/>
          </a:p>
        </p:txBody>
      </p:sp>
      <p:sp>
        <p:nvSpPr>
          <p:cNvPr id="6" name="Rectangle 1"/>
          <p:cNvSpPr txBox="1">
            <a:spLocks noChangeArrowheads="1"/>
          </p:cNvSpPr>
          <p:nvPr/>
        </p:nvSpPr>
        <p:spPr bwMode="auto">
          <a:xfrm>
            <a:off x="8422783" y="1510241"/>
            <a:ext cx="3593205" cy="4031873"/>
          </a:xfrm>
          <a:prstGeom prst="rect">
            <a:avLst/>
          </a:prstGeom>
          <a:ln w="38100">
            <a:headEnd/>
            <a:tailEnd/>
          </a:ln>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spcAft>
                <a:spcPts val="0"/>
              </a:spcAft>
              <a:buClr>
                <a:schemeClr val="accent1"/>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spcAft>
                <a:spcPts val="0"/>
              </a:spcAft>
              <a:buClr>
                <a:schemeClr val="accent1"/>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spcAft>
                <a:spcPts val="0"/>
              </a:spcAft>
              <a:buClr>
                <a:schemeClr val="accent1"/>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spcAft>
                <a:spcPts val="0"/>
              </a:spcAft>
              <a:buClr>
                <a:schemeClr val="accent1"/>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spcAft>
                <a:spcPts val="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spcAft>
                <a:spcPts val="0"/>
              </a:spcAft>
              <a:buClr>
                <a:schemeClr val="accent1"/>
              </a:buClr>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spcAft>
                <a:spcPts val="0"/>
              </a:spcAft>
              <a:buClr>
                <a:schemeClr val="accent1"/>
              </a:buClr>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spcAft>
                <a:spcPts val="0"/>
              </a:spcAft>
              <a:buClr>
                <a:schemeClr val="accent1"/>
              </a:buClr>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spcAft>
                <a:spcPts val="0"/>
              </a:spcAft>
              <a:buClr>
                <a:schemeClr val="accent1"/>
              </a:buClr>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Char char="•"/>
            </a:pPr>
            <a:r>
              <a:rPr lang="en-US" sz="24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Behavioral design patterns, in particular, often manage communication among objects, sometimes using inheritance (e.g., Strategy Pattern), and other times using composition.</a:t>
            </a:r>
          </a:p>
          <a:p>
            <a:pPr marL="0" indent="0" eaLnBrk="0" fontAlgn="base" hangingPunct="0">
              <a:lnSpc>
                <a:spcPct val="100000"/>
              </a:lnSpc>
              <a:spcBef>
                <a:spcPct val="0"/>
              </a:spcBef>
              <a:spcAft>
                <a:spcPct val="0"/>
              </a:spcAft>
              <a:buFontTx/>
              <a:buChar char="•"/>
            </a:pPr>
            <a:r>
              <a:rPr lang="en-US" sz="24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Learning and applying these patterns makes our codebase more maintainable, reusable, and adaptable to change.</a:t>
            </a:r>
          </a:p>
          <a:p>
            <a:pPr marL="0" indent="0" eaLnBrk="0" fontAlgn="base" hangingPunct="0">
              <a:lnSpc>
                <a:spcPct val="100000"/>
              </a:lnSpc>
              <a:spcBef>
                <a:spcPct val="0"/>
              </a:spcBef>
              <a:spcAft>
                <a:spcPct val="0"/>
              </a:spcAft>
              <a:buFont typeface="Arial" panose="020B0604020202020204" pitchFamily="34" charset="0"/>
              <a:buNone/>
            </a:pPr>
            <a:endParaRPr lang="en-US" sz="1600" dirty="0" smtClean="0">
              <a:solidFill>
                <a:schemeClr val="bg1"/>
              </a:solidFill>
              <a:latin typeface="Arial" panose="020B0604020202020204" pitchFamily="34" charset="0"/>
            </a:endParaRPr>
          </a:p>
        </p:txBody>
      </p:sp>
      <p:pic>
        <p:nvPicPr>
          <p:cNvPr id="7" name="Picture 6"/>
          <p:cNvPicPr>
            <a:picLocks noChangeAspect="1"/>
          </p:cNvPicPr>
          <p:nvPr/>
        </p:nvPicPr>
        <p:blipFill>
          <a:blip r:embed="rId2" cstate="print">
            <a:biLevel thresh="25000"/>
            <a:extLst>
              <a:ext uri="{28A0092B-C50C-407E-A947-70E740481C1C}">
                <a14:useLocalDpi xmlns:a14="http://schemas.microsoft.com/office/drawing/2010/main" val="0"/>
              </a:ext>
            </a:extLst>
          </a:blip>
          <a:stretch>
            <a:fillRect/>
          </a:stretch>
        </p:blipFill>
        <p:spPr>
          <a:xfrm>
            <a:off x="5071040" y="1945367"/>
            <a:ext cx="3187553" cy="2907370"/>
          </a:xfrm>
          <a:prstGeom prst="rect">
            <a:avLst/>
          </a:prstGeom>
          <a:ln w="88900" cap="sq" cmpd="thickThin">
            <a:solidFill>
              <a:schemeClr val="accent1"/>
            </a:solidFill>
            <a:prstDash val="solid"/>
            <a:miter lim="800000"/>
          </a:ln>
          <a:effectLst>
            <a:innerShdw blurRad="76200">
              <a:srgbClr val="000000"/>
            </a:innerShdw>
          </a:effectLst>
        </p:spPr>
      </p:pic>
      <p:sp>
        <p:nvSpPr>
          <p:cNvPr id="8" name="Content Placeholder 7"/>
          <p:cNvSpPr>
            <a:spLocks noGrp="1"/>
          </p:cNvSpPr>
          <p:nvPr>
            <p:ph idx="1"/>
          </p:nvPr>
        </p:nvSpPr>
        <p:spPr>
          <a:xfrm>
            <a:off x="695457" y="1287592"/>
            <a:ext cx="4211393" cy="5435180"/>
          </a:xfrm>
          <a:ln w="38100"/>
        </p:spPr>
        <p:style>
          <a:lnRef idx="2">
            <a:schemeClr val="accent1"/>
          </a:lnRef>
          <a:fillRef idx="1">
            <a:schemeClr val="lt1"/>
          </a:fillRef>
          <a:effectRef idx="0">
            <a:schemeClr val="accent1"/>
          </a:effectRef>
          <a:fontRef idx="minor">
            <a:schemeClr val="dk1"/>
          </a:fontRef>
        </p:style>
        <p:txBody>
          <a:bodyPr>
            <a:noAutofit/>
          </a:bodyPr>
          <a:lstStyle/>
          <a:p>
            <a:pPr marL="0" lvl="0" indent="0" algn="ctr" defTabSz="914400" eaLnBrk="0" fontAlgn="base" hangingPunct="0">
              <a:spcBef>
                <a:spcPct val="0"/>
              </a:spcBef>
              <a:spcAft>
                <a:spcPct val="0"/>
              </a:spcAft>
              <a:buClrTx/>
              <a:buFontTx/>
              <a:buChar char="•"/>
            </a:pPr>
            <a:r>
              <a:rPr lang="en-US" sz="22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Design patterns are standard, proven solutions to common software design problems.</a:t>
            </a:r>
          </a:p>
          <a:p>
            <a:pPr marL="0" lvl="0" indent="0" algn="ctr" defTabSz="914400" eaLnBrk="0" fontAlgn="base" hangingPunct="0">
              <a:spcBef>
                <a:spcPct val="0"/>
              </a:spcBef>
              <a:spcAft>
                <a:spcPct val="0"/>
              </a:spcAft>
              <a:buClrTx/>
              <a:buFontTx/>
              <a:buChar char="•"/>
            </a:pPr>
            <a:r>
              <a:rPr lang="en-US" sz="22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They provide a way to structure code that is reusable, flexible, and easier to maintain.</a:t>
            </a:r>
          </a:p>
          <a:p>
            <a:pPr marL="0" lvl="0" indent="0" algn="ctr" defTabSz="914400" eaLnBrk="0" fontAlgn="base" hangingPunct="0">
              <a:spcBef>
                <a:spcPct val="0"/>
              </a:spcBef>
              <a:spcAft>
                <a:spcPct val="0"/>
              </a:spcAft>
              <a:buClrTx/>
              <a:buFontTx/>
              <a:buChar char="•"/>
            </a:pPr>
            <a:r>
              <a:rPr lang="en-US" sz="22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Patterns capture best practices that developers have learned over time.</a:t>
            </a:r>
          </a:p>
          <a:p>
            <a:pPr marL="0" lvl="0" indent="0" algn="ctr" defTabSz="914400" eaLnBrk="0" fontAlgn="base" hangingPunct="0">
              <a:spcBef>
                <a:spcPct val="0"/>
              </a:spcBef>
              <a:spcAft>
                <a:spcPct val="0"/>
              </a:spcAft>
              <a:buClrTx/>
              <a:buFontTx/>
              <a:buChar char="•"/>
            </a:pPr>
            <a:r>
              <a:rPr lang="en-US" sz="22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They help simplify complex code by providing a clear template for solving design issues</a:t>
            </a:r>
          </a:p>
          <a:p>
            <a:pPr marL="0" indent="0" algn="ctr" defTabSz="914400" eaLnBrk="0" fontAlgn="base" hangingPunct="0">
              <a:spcBef>
                <a:spcPct val="0"/>
              </a:spcBef>
              <a:spcAft>
                <a:spcPct val="0"/>
              </a:spcAft>
              <a:buClrTx/>
              <a:buFontTx/>
              <a:buChar char="•"/>
            </a:pPr>
            <a:r>
              <a:rPr lang="en-US" sz="22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Design patterns provide standard solutions for recurring problems in software design — some focus on object creation, some on structure, and others on behavior and communication</a:t>
            </a:r>
            <a:r>
              <a:rPr lang="en-US" sz="22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a:t>
            </a:r>
            <a:endParaRPr lang="en-US" sz="22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endParaRPr>
          </a:p>
        </p:txBody>
      </p:sp>
    </p:spTree>
    <p:extLst>
      <p:ext uri="{BB962C8B-B14F-4D97-AF65-F5344CB8AC3E}">
        <p14:creationId xmlns:p14="http://schemas.microsoft.com/office/powerpoint/2010/main" val="8292908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txBox="1">
            <a:spLocks noChangeArrowheads="1"/>
          </p:cNvSpPr>
          <p:nvPr/>
        </p:nvSpPr>
        <p:spPr bwMode="auto">
          <a:xfrm>
            <a:off x="1795707" y="1614987"/>
            <a:ext cx="9267245" cy="2031325"/>
          </a:xfrm>
          <a:prstGeom prst="rect">
            <a:avLst/>
          </a:prstGeom>
          <a:noFill/>
          <a:ln w="9525">
            <a:noFill/>
            <a:prstDash val="lgDashDot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US"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The </a:t>
            </a:r>
            <a:r>
              <a:rPr lang="en-US" b="1"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Observer Pattern</a:t>
            </a:r>
            <a:r>
              <a:rPr lang="en-US"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 is helpful when one object needs to tell other objects that something has changed. For example, in a messaging app, when a new message arrives, all the chat windows or notifications can update automatically. The object that changes is called the "subject," and the ones that react to the change are "observers</a:t>
            </a:r>
            <a:r>
              <a:rPr lang="en-US"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a:t>
            </a:r>
            <a:endParaRPr lang="en-US"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endParaRPr>
          </a:p>
        </p:txBody>
      </p:sp>
      <p:sp>
        <p:nvSpPr>
          <p:cNvPr id="7" name="Rectangle 1"/>
          <p:cNvSpPr txBox="1">
            <a:spLocks noChangeArrowheads="1"/>
          </p:cNvSpPr>
          <p:nvPr/>
        </p:nvSpPr>
        <p:spPr bwMode="auto">
          <a:xfrm>
            <a:off x="1795707" y="4045045"/>
            <a:ext cx="9151335" cy="2429896"/>
          </a:xfrm>
          <a:prstGeom prst="rect">
            <a:avLst/>
          </a:prstGeom>
          <a:noFill/>
          <a:ln w="9525">
            <a:noFill/>
            <a:prstDash val="lgDashDot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q"/>
            </a:pPr>
            <a:r>
              <a:rPr lang="en-US"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The </a:t>
            </a:r>
            <a:r>
              <a:rPr lang="en-US" b="1"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Strategy Pattern </a:t>
            </a:r>
            <a:r>
              <a:rPr lang="en-US"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is useful when an object needs to do something in different ways, depending on the situation. Instead of putting all the different ways inside one class, we separate each one into its own class. Then, we can choose which one to use while the program is running. This makes the code easier to manage and change in the future</a:t>
            </a:r>
          </a:p>
        </p:txBody>
      </p:sp>
      <p:sp>
        <p:nvSpPr>
          <p:cNvPr id="8" name="Title 1"/>
          <p:cNvSpPr>
            <a:spLocks noGrp="1"/>
          </p:cNvSpPr>
          <p:nvPr>
            <p:ph type="title"/>
          </p:nvPr>
        </p:nvSpPr>
        <p:spPr>
          <a:xfrm>
            <a:off x="1713448" y="675625"/>
            <a:ext cx="9941932" cy="823561"/>
          </a:xfrm>
        </p:spPr>
        <p:txBody>
          <a:bodyPr>
            <a:normAutofit fontScale="90000"/>
          </a:bodyPr>
          <a:lstStyle/>
          <a:p>
            <a:r>
              <a:rPr lang="en-US" dirty="0" smtClean="0">
                <a:ln w="0"/>
                <a:solidFill>
                  <a:schemeClr val="accent1"/>
                </a:solidFill>
                <a:effectLst>
                  <a:outerShdw blurRad="38100" dist="25400" dir="5400000" algn="ctr" rotWithShape="0">
                    <a:srgbClr val="6E747A">
                      <a:alpha val="43000"/>
                    </a:srgbClr>
                  </a:outerShdw>
                </a:effectLst>
                <a:latin typeface="Arial Rounded MT Bold" panose="020F0704030504030204" pitchFamily="34" charset="0"/>
              </a:rPr>
              <a:t>WHICH DESIGN PATTERNS ARE IMLEMENTED?</a:t>
            </a:r>
            <a:r>
              <a:rPr lang="en-US" dirty="0">
                <a:ln>
                  <a:solidFill>
                    <a:schemeClr val="bg1"/>
                  </a:solidFill>
                </a:ln>
                <a:solidFill>
                  <a:schemeClr val="bg1"/>
                </a:solidFill>
                <a:effectLst>
                  <a:glow rad="101600">
                    <a:schemeClr val="accent6">
                      <a:satMod val="175000"/>
                      <a:alpha val="40000"/>
                    </a:schemeClr>
                  </a:glow>
                  <a:outerShdw blurRad="50800" dist="38100" dir="2700000" algn="tl" rotWithShape="0">
                    <a:prstClr val="black">
                      <a:alpha val="40000"/>
                    </a:prstClr>
                  </a:outerShdw>
                </a:effectLst>
                <a:latin typeface="Arial Rounded MT Bold" panose="020F0704030504030204" pitchFamily="34" charset="0"/>
              </a:rPr>
              <a:t/>
            </a:r>
            <a:br>
              <a:rPr lang="en-US" dirty="0">
                <a:ln>
                  <a:solidFill>
                    <a:schemeClr val="bg1"/>
                  </a:solidFill>
                </a:ln>
                <a:solidFill>
                  <a:schemeClr val="bg1"/>
                </a:solidFill>
                <a:effectLst>
                  <a:glow rad="101600">
                    <a:schemeClr val="accent6">
                      <a:satMod val="175000"/>
                      <a:alpha val="40000"/>
                    </a:schemeClr>
                  </a:glow>
                  <a:outerShdw blurRad="50800" dist="38100" dir="2700000" algn="tl" rotWithShape="0">
                    <a:prstClr val="black">
                      <a:alpha val="40000"/>
                    </a:prstClr>
                  </a:outerShdw>
                </a:effectLst>
                <a:latin typeface="Arial Rounded MT Bold" panose="020F0704030504030204" pitchFamily="34" charset="0"/>
              </a:rPr>
            </a:br>
            <a:endParaRPr lang="en-US" dirty="0"/>
          </a:p>
        </p:txBody>
      </p:sp>
    </p:spTree>
    <p:extLst>
      <p:ext uri="{BB962C8B-B14F-4D97-AF65-F5344CB8AC3E}">
        <p14:creationId xmlns:p14="http://schemas.microsoft.com/office/powerpoint/2010/main" val="27671785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p:cNvSpPr>
            <a:spLocks noGrp="1"/>
          </p:cNvSpPr>
          <p:nvPr>
            <p:ph type="title"/>
          </p:nvPr>
        </p:nvSpPr>
        <p:spPr>
          <a:xfrm>
            <a:off x="1516947" y="624048"/>
            <a:ext cx="8911687" cy="1280890"/>
          </a:xfrm>
        </p:spPr>
        <p:txBody>
          <a:bodyPr/>
          <a:lstStyle/>
          <a:p>
            <a:r>
              <a:rPr lang="en-US" dirty="0" smtClean="0">
                <a:ln w="0"/>
                <a:solidFill>
                  <a:schemeClr val="accent1"/>
                </a:solidFill>
                <a:effectLst>
                  <a:outerShdw blurRad="38100" dist="25400" dir="5400000" algn="ctr" rotWithShape="0">
                    <a:srgbClr val="6E747A">
                      <a:alpha val="43000"/>
                    </a:srgbClr>
                  </a:outerShdw>
                </a:effectLst>
                <a:latin typeface="Arial Rounded MT Bold" panose="020F0704030504030204" pitchFamily="34" charset="0"/>
              </a:rPr>
              <a:t>UML CLASS DIAGRAM</a:t>
            </a:r>
            <a:endParaRPr lang="en-US" dirty="0">
              <a:ln w="0"/>
              <a:solidFill>
                <a:schemeClr val="accent1"/>
              </a:solidFill>
              <a:effectLst>
                <a:outerShdw blurRad="38100" dist="25400" dir="5400000" algn="ctr" rotWithShape="0">
                  <a:srgbClr val="6E747A">
                    <a:alpha val="43000"/>
                  </a:srgbClr>
                </a:outerShdw>
              </a:effectLst>
              <a:latin typeface="Arial Rounded MT Bold" panose="020F0704030504030204" pitchFamily="34" charset="0"/>
            </a:endParaRPr>
          </a:p>
        </p:txBody>
      </p:sp>
      <p:pic>
        <p:nvPicPr>
          <p:cNvPr id="5" name="Picture 4"/>
          <p:cNvPicPr>
            <a:picLocks noChangeAspect="1"/>
          </p:cNvPicPr>
          <p:nvPr/>
        </p:nvPicPr>
        <p:blipFill>
          <a:blip r:embed="rId2"/>
          <a:stretch>
            <a:fillRect/>
          </a:stretch>
        </p:blipFill>
        <p:spPr>
          <a:xfrm>
            <a:off x="3271234" y="2292439"/>
            <a:ext cx="8258881" cy="4301543"/>
          </a:xfrm>
          <a:prstGeom prst="rect">
            <a:avLst/>
          </a:prstGeom>
          <a:ln w="57150">
            <a:solidFill>
              <a:schemeClr val="accent1"/>
            </a:solidFill>
          </a:ln>
        </p:spPr>
      </p:pic>
    </p:spTree>
    <p:extLst>
      <p:ext uri="{BB962C8B-B14F-4D97-AF65-F5344CB8AC3E}">
        <p14:creationId xmlns:p14="http://schemas.microsoft.com/office/powerpoint/2010/main" val="2195960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495495" y="463639"/>
            <a:ext cx="7379596" cy="4739426"/>
          </a:xfrm>
          <a:prstGeom prst="rect">
            <a:avLst/>
          </a:prstGeom>
          <a:ln w="57150">
            <a:solidFill>
              <a:schemeClr val="accent1"/>
            </a:solidFill>
          </a:ln>
        </p:spPr>
      </p:pic>
      <p:grpSp>
        <p:nvGrpSpPr>
          <p:cNvPr id="5" name="Graphic 185">
            <a:extLst>
              <a:ext uri="{FF2B5EF4-FFF2-40B4-BE49-F238E27FC236}">
                <a16:creationId xmlns="" xmlns:a16="http://schemas.microsoft.com/office/drawing/2014/main" id="{582A903B-6B78-4F0A-B7C9-3D80499020B8}"/>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10428634" y="5987064"/>
            <a:ext cx="1054466" cy="469689"/>
            <a:chOff x="9841624" y="4115729"/>
            <a:chExt cx="602169" cy="268223"/>
          </a:xfrm>
          <a:solidFill>
            <a:schemeClr val="accent1"/>
          </a:solidFill>
        </p:grpSpPr>
        <p:sp>
          <p:nvSpPr>
            <p:cNvPr id="6" name="Freeform: Shape 37">
              <a:extLst>
                <a:ext uri="{FF2B5EF4-FFF2-40B4-BE49-F238E27FC236}">
                  <a16:creationId xmlns="" xmlns:a16="http://schemas.microsoft.com/office/drawing/2014/main" id="{D510EA93-8F64-42C8-A630-D449506E95E0}"/>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7" name="Freeform: Shape 38">
              <a:extLst>
                <a:ext uri="{FF2B5EF4-FFF2-40B4-BE49-F238E27FC236}">
                  <a16:creationId xmlns="" xmlns:a16="http://schemas.microsoft.com/office/drawing/2014/main" id="{06CB53FC-E4DA-4001-928B-9998A85EA5B8}"/>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8" name="Freeform: Shape 39">
              <a:extLst>
                <a:ext uri="{FF2B5EF4-FFF2-40B4-BE49-F238E27FC236}">
                  <a16:creationId xmlns="" xmlns:a16="http://schemas.microsoft.com/office/drawing/2014/main" id="{D210B969-4FDF-4AAC-9397-63D5434958D1}"/>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9" name="Freeform: Shape 40">
              <a:extLst>
                <a:ext uri="{FF2B5EF4-FFF2-40B4-BE49-F238E27FC236}">
                  <a16:creationId xmlns="" xmlns:a16="http://schemas.microsoft.com/office/drawing/2014/main" id="{570B3EF0-84EA-4F47-86A3-1EA1F644A49F}"/>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10" name="Freeform: Shape 41">
              <a:extLst>
                <a:ext uri="{FF2B5EF4-FFF2-40B4-BE49-F238E27FC236}">
                  <a16:creationId xmlns="" xmlns:a16="http://schemas.microsoft.com/office/drawing/2014/main" id="{259369A8-EF57-42A1-8EC8-F6A9F92A3AD0}"/>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977077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7229" y="1264555"/>
            <a:ext cx="11294771" cy="3777622"/>
          </a:xfrm>
        </p:spPr>
        <p:txBody>
          <a:bodyPr>
            <a:noAutofit/>
          </a:bodyPr>
          <a:lstStyle/>
          <a:p>
            <a:pPr marL="0" indent="0">
              <a:buNone/>
            </a:pPr>
            <a:r>
              <a:rPr lang="en-US" sz="24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Purpose:</a:t>
            </a:r>
          </a:p>
          <a:p>
            <a:pPr>
              <a:buFont typeface="Wingdings" panose="05000000000000000000" pitchFamily="2" charset="2"/>
              <a:buChar char="q"/>
            </a:pPr>
            <a:r>
              <a:rPr lang="en-US" sz="24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To encapsulate various fitness recommendation strategies based on user activity levels (e.g., Beginner, Intermediate, Advanced).</a:t>
            </a:r>
          </a:p>
          <a:p>
            <a:pPr marL="0" indent="0">
              <a:buNone/>
            </a:pPr>
            <a:r>
              <a:rPr lang="en-US" sz="24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Why Chosen:</a:t>
            </a:r>
          </a:p>
          <a:p>
            <a:pPr>
              <a:buFont typeface="Wingdings" panose="05000000000000000000" pitchFamily="2" charset="2"/>
              <a:buChar char="q"/>
            </a:pPr>
            <a:r>
              <a:rPr lang="en-US" sz="24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Allows dynamic switching between different recommendation strategies at runtime depending on the user’s activity level. </a:t>
            </a:r>
          </a:p>
          <a:p>
            <a:pPr marL="0" indent="0">
              <a:buNone/>
            </a:pPr>
            <a:r>
              <a:rPr lang="en-US" sz="24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Implementation:</a:t>
            </a:r>
          </a:p>
          <a:p>
            <a:pPr lvl="0">
              <a:buFont typeface="Wingdings" panose="05000000000000000000" pitchFamily="2" charset="2"/>
              <a:buChar char="q"/>
            </a:pPr>
            <a:r>
              <a:rPr lang="en-US" sz="24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The </a:t>
            </a:r>
            <a:r>
              <a:rPr lang="en-US" sz="2400" dirty="0" err="1">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FitnessRecommendationStrategy</a:t>
            </a:r>
            <a:r>
              <a:rPr lang="en-US" sz="24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 interface defines a common method recommend().</a:t>
            </a:r>
          </a:p>
          <a:p>
            <a:pPr lvl="0">
              <a:buFont typeface="Wingdings" panose="05000000000000000000" pitchFamily="2" charset="2"/>
              <a:buChar char="q"/>
            </a:pPr>
            <a:r>
              <a:rPr lang="en-US" sz="24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Concrete classes like </a:t>
            </a:r>
            <a:r>
              <a:rPr lang="en-US" sz="2400" dirty="0" err="1">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BeginnerFitnessRecommendation</a:t>
            </a:r>
            <a:r>
              <a:rPr lang="en-US" sz="24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 </a:t>
            </a:r>
            <a:r>
              <a:rPr lang="en-US" sz="2400" dirty="0" err="1">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IntermediateFitnessRecommendation</a:t>
            </a:r>
            <a:r>
              <a:rPr lang="en-US" sz="24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 and </a:t>
            </a:r>
            <a:r>
              <a:rPr lang="en-US" sz="2400" dirty="0" err="1">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AdvancedFitnessRecommendation</a:t>
            </a:r>
            <a:r>
              <a:rPr lang="en-US" sz="24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 implement this interface, each providing a specific workout plan.</a:t>
            </a:r>
          </a:p>
          <a:p>
            <a:pPr lvl="0">
              <a:buFont typeface="Wingdings" panose="05000000000000000000" pitchFamily="2" charset="2"/>
              <a:buChar char="q"/>
            </a:pPr>
            <a:r>
              <a:rPr lang="en-US" sz="24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The </a:t>
            </a:r>
            <a:r>
              <a:rPr lang="en-US" sz="2400" dirty="0" err="1">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FitnessRecommendationContext</a:t>
            </a:r>
            <a:r>
              <a:rPr lang="en-US" sz="24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 class holds a reference to a strategy object and calls its recommend() method to provide the appropriate plan.</a:t>
            </a:r>
          </a:p>
          <a:p>
            <a:endParaRPr lang="en-US" sz="1100" dirty="0"/>
          </a:p>
        </p:txBody>
      </p:sp>
      <p:sp>
        <p:nvSpPr>
          <p:cNvPr id="4" name="Title 5"/>
          <p:cNvSpPr>
            <a:spLocks noGrp="1"/>
          </p:cNvSpPr>
          <p:nvPr>
            <p:ph type="title"/>
          </p:nvPr>
        </p:nvSpPr>
        <p:spPr>
          <a:xfrm>
            <a:off x="1818314" y="624110"/>
            <a:ext cx="8911687" cy="1280890"/>
          </a:xfrm>
        </p:spPr>
        <p:txBody>
          <a:bodyPr/>
          <a:lstStyle/>
          <a:p>
            <a:r>
              <a:rPr lang="en-US" dirty="0" smtClean="0">
                <a:ln w="0"/>
                <a:solidFill>
                  <a:schemeClr val="accent1"/>
                </a:solidFill>
                <a:effectLst>
                  <a:outerShdw blurRad="38100" dist="25400" dir="5400000" algn="ctr" rotWithShape="0">
                    <a:srgbClr val="6E747A">
                      <a:alpha val="43000"/>
                    </a:srgbClr>
                  </a:outerShdw>
                </a:effectLst>
                <a:latin typeface="Arial Rounded MT Bold" panose="020F0704030504030204" pitchFamily="34" charset="0"/>
              </a:rPr>
              <a:t>STRATEGY PATTERN</a:t>
            </a:r>
            <a:endParaRPr lang="en-US" dirty="0">
              <a:ln w="0"/>
              <a:solidFill>
                <a:schemeClr val="accent1"/>
              </a:solidFill>
              <a:effectLst>
                <a:outerShdw blurRad="38100" dist="25400" dir="5400000" algn="ctr" rotWithShape="0">
                  <a:srgbClr val="6E747A">
                    <a:alpha val="43000"/>
                  </a:srgbClr>
                </a:outerShdw>
              </a:effectLst>
              <a:latin typeface="Arial Rounded MT Bold" panose="020F0704030504030204" pitchFamily="34" charset="0"/>
            </a:endParaRPr>
          </a:p>
        </p:txBody>
      </p:sp>
      <p:pic>
        <p:nvPicPr>
          <p:cNvPr id="5" name="Picture 2" descr="Maximizing Efficiency with the Strategy Design Pattern"/>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227167" y="53398"/>
            <a:ext cx="3005668" cy="169068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41755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p:cNvSpPr>
            <a:spLocks noGrp="1"/>
          </p:cNvSpPr>
          <p:nvPr>
            <p:ph type="title"/>
          </p:nvPr>
        </p:nvSpPr>
        <p:spPr>
          <a:xfrm>
            <a:off x="1547858" y="523504"/>
            <a:ext cx="8911687" cy="1280890"/>
          </a:xfrm>
        </p:spPr>
        <p:txBody>
          <a:bodyPr/>
          <a:lstStyle/>
          <a:p>
            <a:r>
              <a:rPr lang="en-US" dirty="0" smtClean="0">
                <a:ln w="0"/>
                <a:solidFill>
                  <a:schemeClr val="accent1"/>
                </a:solidFill>
                <a:effectLst>
                  <a:outerShdw blurRad="38100" dist="25400" dir="5400000" algn="ctr" rotWithShape="0">
                    <a:srgbClr val="6E747A">
                      <a:alpha val="43000"/>
                    </a:srgbClr>
                  </a:outerShdw>
                </a:effectLst>
                <a:latin typeface="Arial Rounded MT Bold" panose="020F0704030504030204" pitchFamily="34" charset="0"/>
              </a:rPr>
              <a:t>OBSERVER PATTERN</a:t>
            </a:r>
            <a:endParaRPr lang="en-US" dirty="0">
              <a:ln w="0"/>
              <a:solidFill>
                <a:schemeClr val="accent1"/>
              </a:solidFill>
              <a:effectLst>
                <a:outerShdw blurRad="38100" dist="25400" dir="5400000" algn="ctr" rotWithShape="0">
                  <a:srgbClr val="6E747A">
                    <a:alpha val="43000"/>
                  </a:srgbClr>
                </a:outerShdw>
              </a:effectLst>
              <a:latin typeface="Arial Rounded MT Bold" panose="020F0704030504030204" pitchFamily="34" charset="0"/>
            </a:endParaRPr>
          </a:p>
        </p:txBody>
      </p:sp>
      <p:sp>
        <p:nvSpPr>
          <p:cNvPr id="5" name="Content Placeholder 2"/>
          <p:cNvSpPr>
            <a:spLocks noGrp="1"/>
          </p:cNvSpPr>
          <p:nvPr>
            <p:ph idx="1"/>
          </p:nvPr>
        </p:nvSpPr>
        <p:spPr>
          <a:xfrm>
            <a:off x="523740" y="1163949"/>
            <a:ext cx="11874321" cy="4351338"/>
          </a:xfrm>
          <a:ln>
            <a:noFill/>
          </a:ln>
        </p:spPr>
        <p:txBody>
          <a:bodyPr>
            <a:noAutofit/>
          </a:bodyPr>
          <a:lstStyle/>
          <a:p>
            <a:pPr marL="0" indent="0">
              <a:buNone/>
            </a:pPr>
            <a:r>
              <a:rPr lang="en-US" sz="23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Purpose</a:t>
            </a:r>
            <a:r>
              <a:rPr lang="en-US" sz="23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a:t>
            </a:r>
          </a:p>
          <a:p>
            <a:pPr>
              <a:buFont typeface="Wingdings" panose="05000000000000000000" pitchFamily="2" charset="2"/>
              <a:buChar char="q"/>
            </a:pPr>
            <a:r>
              <a:rPr lang="en-US" sz="23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To automatically react to changes in user health metrics (such as activity level) and update the recommendation strategy accordingly.</a:t>
            </a:r>
          </a:p>
          <a:p>
            <a:pPr marL="0" indent="0">
              <a:buNone/>
            </a:pPr>
            <a:r>
              <a:rPr lang="en-US" sz="23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Why Chosen:</a:t>
            </a:r>
          </a:p>
          <a:p>
            <a:pPr>
              <a:buFont typeface="Wingdings" panose="05000000000000000000" pitchFamily="2" charset="2"/>
              <a:buChar char="q"/>
            </a:pPr>
            <a:r>
              <a:rPr lang="en-US" sz="23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Ensures real-time and automatic updates of recommendations whenever user health data changes, enhancing responsiveness and decoupling data from logic.</a:t>
            </a:r>
          </a:p>
          <a:p>
            <a:pPr marL="0" indent="0">
              <a:buNone/>
            </a:pPr>
            <a:r>
              <a:rPr lang="en-US" sz="23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Implementation:</a:t>
            </a:r>
          </a:p>
          <a:p>
            <a:pPr lvl="0">
              <a:buFont typeface="Wingdings" panose="05000000000000000000" pitchFamily="2" charset="2"/>
              <a:buChar char="q"/>
            </a:pPr>
            <a:r>
              <a:rPr lang="en-US" sz="2300" dirty="0" err="1">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UserHealthMetrics</a:t>
            </a:r>
            <a:r>
              <a:rPr lang="en-US" sz="23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 acts as the Subject. It maintains a list of observers (</a:t>
            </a:r>
            <a:r>
              <a:rPr lang="en-US" sz="2300" dirty="0" err="1">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FitnessRecommendationObserver</a:t>
            </a:r>
            <a:r>
              <a:rPr lang="en-US" sz="23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 interface).</a:t>
            </a:r>
          </a:p>
          <a:p>
            <a:pPr lvl="0">
              <a:buFont typeface="Wingdings" panose="05000000000000000000" pitchFamily="2" charset="2"/>
              <a:buChar char="q"/>
            </a:pPr>
            <a:r>
              <a:rPr lang="en-US" sz="2300" dirty="0" err="1">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FitnessRecommendationContext</a:t>
            </a:r>
            <a:r>
              <a:rPr lang="en-US" sz="23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 implements this observer interface and registers itself with </a:t>
            </a:r>
            <a:r>
              <a:rPr lang="en-US" sz="2300" dirty="0" err="1">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UserHealthMetrics</a:t>
            </a:r>
            <a:r>
              <a:rPr lang="en-US" sz="23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a:t>
            </a:r>
          </a:p>
          <a:p>
            <a:pPr lvl="0">
              <a:buFont typeface="Wingdings" panose="05000000000000000000" pitchFamily="2" charset="2"/>
              <a:buChar char="q"/>
            </a:pPr>
            <a:r>
              <a:rPr lang="en-US" sz="23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When the activity level changes via </a:t>
            </a:r>
            <a:r>
              <a:rPr lang="en-US" sz="2300" dirty="0" err="1">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setActivityLevel</a:t>
            </a:r>
            <a:r>
              <a:rPr lang="en-US" sz="23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 </a:t>
            </a:r>
            <a:r>
              <a:rPr lang="en-US" sz="2300" dirty="0" err="1">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UserHealthMetrics</a:t>
            </a:r>
            <a:r>
              <a:rPr lang="en-US" sz="23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 calls notify(), which triggers update() on all observers — in this case, prompting the context to select and invoke the appropriate </a:t>
            </a:r>
            <a:r>
              <a:rPr lang="en-US" sz="23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strategy</a:t>
            </a:r>
            <a:endParaRPr lang="en-US" sz="23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4025" y="43627"/>
            <a:ext cx="2847975" cy="1600200"/>
          </a:xfrm>
          <a:prstGeom prst="rect">
            <a:avLst/>
          </a:prstGeom>
          <a:ln>
            <a:noFill/>
          </a:ln>
          <a:effectLst>
            <a:softEdge rad="112500"/>
          </a:effectLst>
        </p:spPr>
      </p:pic>
    </p:spTree>
    <p:extLst>
      <p:ext uri="{BB962C8B-B14F-4D97-AF65-F5344CB8AC3E}">
        <p14:creationId xmlns:p14="http://schemas.microsoft.com/office/powerpoint/2010/main" val="5166724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0CC09467-5AC0-7C85-AE8E-FC9C38CCD840}"/>
              </a:ext>
            </a:extLst>
          </p:cNvPr>
          <p:cNvSpPr txBox="1"/>
          <p:nvPr/>
        </p:nvSpPr>
        <p:spPr>
          <a:xfrm>
            <a:off x="2450195" y="1289240"/>
            <a:ext cx="7080171" cy="4524315"/>
          </a:xfrm>
          <a:prstGeom prst="rect">
            <a:avLst/>
          </a:prstGeom>
          <a:noFill/>
        </p:spPr>
        <p:txBody>
          <a:bodyPr wrap="square" rtlCol="0">
            <a:spAutoFit/>
          </a:bodyPr>
          <a:lstStyle/>
          <a:p>
            <a:r>
              <a:rPr lang="en-US" sz="3200" dirty="0" smtClean="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This </a:t>
            </a:r>
            <a:r>
              <a:rPr lang="en-US" sz="3200" dirty="0">
                <a:ln w="0"/>
                <a:solidFill>
                  <a:schemeClr val="accent1"/>
                </a:solidFill>
                <a:effectLst>
                  <a:outerShdw blurRad="38100" dist="25400" dir="5400000" algn="ctr" rotWithShape="0">
                    <a:srgbClr val="6E747A">
                      <a:alpha val="43000"/>
                    </a:srgbClr>
                  </a:outerShdw>
                </a:effectLst>
                <a:latin typeface="Monotype Corsiva" panose="03010101010201010101" pitchFamily="66" charset="0"/>
              </a:rPr>
              <a:t>project delivers a smart and interactive Fitness Recommendation System that adapts to individual user health metrics. By analyzing inputs like activity level and health data, the system provides tailored fitness suggestions to promote healthier lifestyles. It’s designed to be flexible, user-friendly, and capable of growing with future wellness-focused features such as diet tracking or sleep guidance.</a:t>
            </a:r>
          </a:p>
        </p:txBody>
      </p:sp>
      <p:sp>
        <p:nvSpPr>
          <p:cNvPr id="7" name="Title 5"/>
          <p:cNvSpPr>
            <a:spLocks noGrp="1"/>
          </p:cNvSpPr>
          <p:nvPr>
            <p:ph type="title"/>
          </p:nvPr>
        </p:nvSpPr>
        <p:spPr>
          <a:xfrm>
            <a:off x="1818314" y="624110"/>
            <a:ext cx="8911687" cy="1280890"/>
          </a:xfrm>
        </p:spPr>
        <p:txBody>
          <a:bodyPr/>
          <a:lstStyle/>
          <a:p>
            <a:r>
              <a:rPr lang="en-US" dirty="0" smtClean="0">
                <a:ln w="0"/>
                <a:solidFill>
                  <a:schemeClr val="accent1"/>
                </a:solidFill>
                <a:effectLst>
                  <a:outerShdw blurRad="38100" dist="25400" dir="5400000" algn="ctr" rotWithShape="0">
                    <a:srgbClr val="6E747A">
                      <a:alpha val="43000"/>
                    </a:srgbClr>
                  </a:outerShdw>
                </a:effectLst>
                <a:latin typeface="Arial Rounded MT Bold" panose="020F0704030504030204" pitchFamily="34" charset="0"/>
              </a:rPr>
              <a:t>CONCLUSION</a:t>
            </a:r>
            <a:endParaRPr lang="en-US" dirty="0">
              <a:ln w="0"/>
              <a:solidFill>
                <a:schemeClr val="accent1"/>
              </a:solidFill>
              <a:effectLst>
                <a:outerShdw blurRad="38100" dist="25400" dir="5400000" algn="ctr" rotWithShape="0">
                  <a:srgbClr val="6E747A">
                    <a:alpha val="43000"/>
                  </a:srgbClr>
                </a:outerShdw>
              </a:effectLst>
              <a:latin typeface="Arial Rounded MT Bold" panose="020F0704030504030204" pitchFamily="34" charset="0"/>
            </a:endParaRPr>
          </a:p>
        </p:txBody>
      </p:sp>
    </p:spTree>
    <p:extLst>
      <p:ext uri="{BB962C8B-B14F-4D97-AF65-F5344CB8AC3E}">
        <p14:creationId xmlns:p14="http://schemas.microsoft.com/office/powerpoint/2010/main" val="2630091353"/>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184</TotalTime>
  <Words>756</Words>
  <Application>Microsoft Office PowerPoint</Application>
  <PresentationFormat>Widescreen</PresentationFormat>
  <Paragraphs>53</Paragraphs>
  <Slides>11</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11</vt:i4>
      </vt:variant>
    </vt:vector>
  </HeadingPairs>
  <TitlesOfParts>
    <vt:vector size="23" baseType="lpstr">
      <vt:lpstr>Amasis MT Pro Medium</vt:lpstr>
      <vt:lpstr>Arial</vt:lpstr>
      <vt:lpstr>Arial MT</vt:lpstr>
      <vt:lpstr>Arial Rounded MT Bold</vt:lpstr>
      <vt:lpstr>Calibri</vt:lpstr>
      <vt:lpstr>Century Gothic</vt:lpstr>
      <vt:lpstr>Mongolian Baiti</vt:lpstr>
      <vt:lpstr>Monotype Corsiva</vt:lpstr>
      <vt:lpstr>Times New Roman</vt:lpstr>
      <vt:lpstr>Wingdings</vt:lpstr>
      <vt:lpstr>Wingdings 3</vt:lpstr>
      <vt:lpstr>Wisp</vt:lpstr>
      <vt:lpstr>PowerPoint Presentation</vt:lpstr>
      <vt:lpstr>PowerPoint Presentation</vt:lpstr>
      <vt:lpstr>PowerPoint Presentation</vt:lpstr>
      <vt:lpstr>PowerPoint Presentation</vt:lpstr>
      <vt:lpstr>WHAT ARE DESIGN PATTERNS? </vt:lpstr>
      <vt:lpstr>WHICH DESIGN PATTERNS ARE IMLEMENTED? </vt:lpstr>
      <vt:lpstr>UML CLASS DIAGRAM</vt:lpstr>
      <vt:lpstr>PowerPoint Presentation</vt:lpstr>
      <vt:lpstr>STRATEGY PATTERN</vt:lpstr>
      <vt:lpstr>OBSERVER PATTERN</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Computer World</dc:creator>
  <cp:lastModifiedBy>Computer World</cp:lastModifiedBy>
  <cp:revision>27</cp:revision>
  <dcterms:created xsi:type="dcterms:W3CDTF">2025-04-20T15:39:47Z</dcterms:created>
  <dcterms:modified xsi:type="dcterms:W3CDTF">2025-12-15T15:39:55Z</dcterms:modified>
</cp:coreProperties>
</file>